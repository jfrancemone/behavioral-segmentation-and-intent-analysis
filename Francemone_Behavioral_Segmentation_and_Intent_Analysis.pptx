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5" r:id="rId1"/>
  </p:sldMasterIdLst>
  <p:notesMasterIdLst>
    <p:notesMasterId r:id="rId10"/>
  </p:notesMasterIdLst>
  <p:sldIdLst>
    <p:sldId id="256" r:id="rId2"/>
    <p:sldId id="273" r:id="rId3"/>
    <p:sldId id="270" r:id="rId4"/>
    <p:sldId id="274" r:id="rId5"/>
    <p:sldId id="275" r:id="rId6"/>
    <p:sldId id="276" r:id="rId7"/>
    <p:sldId id="277" r:id="rId8"/>
    <p:sldId id="278" r:id="rId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2FB"/>
    <a:srgbClr val="7CD3CF"/>
    <a:srgbClr val="EFEFEF"/>
    <a:srgbClr val="00B0CC"/>
    <a:srgbClr val="BCDCE7"/>
    <a:srgbClr val="93E9FF"/>
    <a:srgbClr val="6B6B6B"/>
    <a:srgbClr val="A90005"/>
    <a:srgbClr val="00A9A4"/>
    <a:srgbClr val="4A8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FDEA69-D2B8-4541-A49A-BA8327425D73}">
  <a:tblStyle styleId="{E4FDEA69-D2B8-4541-A49A-BA8327425D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1176" y="330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r>
              <a:rPr lang="en-US" sz="1200" b="1" dirty="0"/>
              <a:t>Global</a:t>
            </a:r>
            <a:r>
              <a:rPr lang="en-US" sz="1200" b="1" baseline="0" dirty="0"/>
              <a:t> </a:t>
            </a:r>
            <a:r>
              <a:rPr lang="en-US" sz="1200" b="1" dirty="0"/>
              <a:t>Feature Importance</a:t>
            </a:r>
          </a:p>
        </c:rich>
      </c:tx>
      <c:layout>
        <c:manualLayout>
          <c:xMode val="edge"/>
          <c:yMode val="edge"/>
          <c:x val="0.42200001988387825"/>
          <c:y val="3.897803494260186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82FB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Catholic</c:v>
                </c:pt>
                <c:pt idx="1">
                  <c:v>Drinking Habits</c:v>
                </c:pt>
                <c:pt idx="2">
                  <c:v>Age X Education Level</c:v>
                </c:pt>
                <c:pt idx="3">
                  <c:v>Drug Use</c:v>
                </c:pt>
                <c:pt idx="4">
                  <c:v>Atheist</c:v>
                </c:pt>
                <c:pt idx="5">
                  <c:v>Essay Polarity</c:v>
                </c:pt>
                <c:pt idx="6">
                  <c:v>Heterosexual</c:v>
                </c:pt>
                <c:pt idx="7">
                  <c:v>Age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2.4E-2</c:v>
                </c:pt>
                <c:pt idx="1">
                  <c:v>2.5000000000000001E-2</c:v>
                </c:pt>
                <c:pt idx="2">
                  <c:v>3.1E-2</c:v>
                </c:pt>
                <c:pt idx="3">
                  <c:v>3.5000000000000003E-2</c:v>
                </c:pt>
                <c:pt idx="4">
                  <c:v>3.9E-2</c:v>
                </c:pt>
                <c:pt idx="5">
                  <c:v>0.04</c:v>
                </c:pt>
                <c:pt idx="6">
                  <c:v>6.3E-2</c:v>
                </c:pt>
                <c:pt idx="7">
                  <c:v>0.16500000000000001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74-427A-A648-66BF03A216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840767728"/>
        <c:axId val="840766288"/>
      </c:barChart>
      <c:catAx>
        <c:axId val="8407677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840766288"/>
        <c:crosses val="autoZero"/>
        <c:auto val="1"/>
        <c:lblAlgn val="ctr"/>
        <c:lblOffset val="100"/>
        <c:noMultiLvlLbl val="0"/>
      </c:catAx>
      <c:valAx>
        <c:axId val="840766288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ash"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r>
                  <a:rPr lang="en-US" sz="1000" dirty="0">
                    <a:solidFill>
                      <a:schemeClr val="tx1"/>
                    </a:solidFill>
                  </a:rPr>
                  <a:t>Mean</a:t>
                </a:r>
                <a:r>
                  <a:rPr lang="en-US" sz="1000" baseline="0" dirty="0">
                    <a:solidFill>
                      <a:schemeClr val="tx1"/>
                    </a:solidFill>
                  </a:rPr>
                  <a:t> SHAP Value</a:t>
                </a:r>
                <a:endParaRPr lang="en-US" sz="1000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pPr>
              <a:endParaRPr lang="en-US"/>
            </a:p>
          </c:txPr>
        </c:title>
        <c:numFmt formatCode="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840767728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chemeClr val="tx1"/>
          </a:solidFill>
          <a:latin typeface="Segoe UI" panose="020B0502040204020203" pitchFamily="34" charset="0"/>
          <a:cs typeface="Segoe UI" panose="020B0502040204020203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r>
              <a:rPr lang="en-US" sz="1200" b="1" dirty="0"/>
              <a:t>Causal Lift on Family Planning</a:t>
            </a:r>
          </a:p>
        </c:rich>
      </c:tx>
      <c:layout>
        <c:manualLayout>
          <c:xMode val="edge"/>
          <c:yMode val="edge"/>
          <c:x val="0.24758642859036559"/>
          <c:y val="3.9682255627137515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1FA-4CCA-B035-E79402E24E62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61FA-4CCA-B035-E79402E24E62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1FA-4CCA-B035-E79402E24E62}"/>
              </c:ext>
            </c:extLst>
          </c:dPt>
          <c:dPt>
            <c:idx val="3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61FA-4CCA-B035-E79402E24E62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1FA-4CCA-B035-E79402E24E62}"/>
              </c:ext>
            </c:extLst>
          </c:dPt>
          <c:dLbls>
            <c:dLbl>
              <c:idx val="0"/>
              <c:layout>
                <c:manualLayout>
                  <c:x val="-1.4262273851405353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3101939015833093E-2"/>
                      <c:h val="6.690221146042243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61FA-4CCA-B035-E79402E24E62}"/>
                </c:ext>
              </c:extLst>
            </c:dLbl>
            <c:dLbl>
              <c:idx val="1"/>
              <c:layout>
                <c:manualLayout>
                  <c:x val="-8.7333113510868528E-3"/>
                  <c:y val="-2.889811541806685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8679518977145049E-2"/>
                      <c:h val="6.690221146042243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61FA-4CCA-B035-E79402E24E62}"/>
                </c:ext>
              </c:extLst>
            </c:dLbl>
            <c:dLbl>
              <c:idx val="2"/>
              <c:layout>
                <c:manualLayout>
                  <c:x val="-6.6290545799226556E-3"/>
                  <c:y val="-4.20867234120572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0152078528062776E-2"/>
                      <c:h val="6.69022906227630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61FA-4CCA-B035-E79402E24E62}"/>
                </c:ext>
              </c:extLst>
            </c:dLbl>
            <c:dLbl>
              <c:idx val="3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1075647838882953E-2"/>
                      <c:h val="6.690218113197546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61FA-4CCA-B035-E79402E24E62}"/>
                </c:ext>
              </c:extLst>
            </c:dLbl>
            <c:dLbl>
              <c:idx val="4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3235792405142552E-2"/>
                      <c:h val="6.690218113197546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61FA-4CCA-B035-E79402E24E62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anchor="ctr" anchorCtr="1">
                <a:no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The Techie</c:v>
                </c:pt>
                <c:pt idx="1">
                  <c:v>The Romantic</c:v>
                </c:pt>
                <c:pt idx="2">
                  <c:v>The Socialite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-0.19800000000000001</c:v>
                </c:pt>
                <c:pt idx="1">
                  <c:v>-1.7999999999999999E-2</c:v>
                </c:pt>
                <c:pt idx="2">
                  <c:v>0.185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FA-4CCA-B035-E79402E24E6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150504399"/>
        <c:axId val="1150502959"/>
      </c:barChart>
      <c:catAx>
        <c:axId val="11505043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1150502959"/>
        <c:crossesAt val="0"/>
        <c:auto val="1"/>
        <c:lblAlgn val="ctr"/>
        <c:lblOffset val="0"/>
        <c:noMultiLvlLbl val="0"/>
      </c:catAx>
      <c:valAx>
        <c:axId val="1150502959"/>
        <c:scaling>
          <c:orientation val="minMax"/>
          <c:min val="-0.2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ash"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r>
                  <a:rPr lang="en-US" sz="1000" dirty="0"/>
                  <a:t>Average Treatment Effect</a:t>
                </a:r>
              </a:p>
            </c:rich>
          </c:tx>
          <c:layout>
            <c:manualLayout>
              <c:xMode val="edge"/>
              <c:yMode val="edge"/>
              <c:x val="0.31562739685150087"/>
              <c:y val="0.90390272957408657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0%" sourceLinked="0"/>
        <c:majorTickMark val="out"/>
        <c:minorTickMark val="none"/>
        <c:tickLblPos val="low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t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1150504399"/>
        <c:crosses val="autoZero"/>
        <c:crossBetween val="between"/>
        <c:majorUnit val="5.000000000000001E-2"/>
        <c:minorUnit val="1.0000000000000002E-2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solidFill>
            <a:schemeClr val="tx1"/>
          </a:solidFill>
          <a:latin typeface="Segoe UI" panose="020B0502040204020203" pitchFamily="34" charset="0"/>
          <a:cs typeface="Segoe UI" panose="020B0502040204020203" pitchFamily="34" charset="0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43858" y="1172225"/>
            <a:ext cx="677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643852" y="3261775"/>
            <a:ext cx="6770700" cy="5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3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ubTitle" idx="1"/>
          </p:nvPr>
        </p:nvSpPr>
        <p:spPr>
          <a:xfrm>
            <a:off x="1878275" y="1251675"/>
            <a:ext cx="27876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ubTitle" idx="2"/>
          </p:nvPr>
        </p:nvSpPr>
        <p:spPr>
          <a:xfrm>
            <a:off x="1878275" y="1744345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ubTitle" idx="3"/>
          </p:nvPr>
        </p:nvSpPr>
        <p:spPr>
          <a:xfrm>
            <a:off x="5351497" y="1251675"/>
            <a:ext cx="27876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ubTitle" idx="4"/>
          </p:nvPr>
        </p:nvSpPr>
        <p:spPr>
          <a:xfrm>
            <a:off x="5351493" y="1744282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subTitle" idx="5"/>
          </p:nvPr>
        </p:nvSpPr>
        <p:spPr>
          <a:xfrm>
            <a:off x="1878275" y="2898148"/>
            <a:ext cx="2787600" cy="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6"/>
          </p:nvPr>
        </p:nvSpPr>
        <p:spPr>
          <a:xfrm>
            <a:off x="1878275" y="3390754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subTitle" idx="7"/>
          </p:nvPr>
        </p:nvSpPr>
        <p:spPr>
          <a:xfrm>
            <a:off x="5351425" y="2898156"/>
            <a:ext cx="2787600" cy="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subTitle" idx="8"/>
          </p:nvPr>
        </p:nvSpPr>
        <p:spPr>
          <a:xfrm>
            <a:off x="5351425" y="3390754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subTitle" idx="9"/>
          </p:nvPr>
        </p:nvSpPr>
        <p:spPr>
          <a:xfrm rot="-5400803">
            <a:off x="609009" y="1779468"/>
            <a:ext cx="12843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subTitle" idx="13"/>
          </p:nvPr>
        </p:nvSpPr>
        <p:spPr>
          <a:xfrm rot="-5400000">
            <a:off x="609075" y="3422400"/>
            <a:ext cx="12843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4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10" Type="http://schemas.openxmlformats.org/officeDocument/2006/relationships/image" Target="../media/image15.jp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034392-D867-E889-7BAD-567276F8362D}"/>
              </a:ext>
            </a:extLst>
          </p:cNvPr>
          <p:cNvSpPr txBox="1"/>
          <p:nvPr/>
        </p:nvSpPr>
        <p:spPr>
          <a:xfrm>
            <a:off x="6191573" y="4866501"/>
            <a:ext cx="2952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Prepared by C. Joseph Francemone, Ph.D.</a:t>
            </a:r>
          </a:p>
        </p:txBody>
      </p:sp>
      <p:sp>
        <p:nvSpPr>
          <p:cNvPr id="4" name="Google Shape;185;p30">
            <a:extLst>
              <a:ext uri="{FF2B5EF4-FFF2-40B4-BE49-F238E27FC236}">
                <a16:creationId xmlns:a16="http://schemas.microsoft.com/office/drawing/2014/main" id="{06AD0E3C-8E2A-3A60-A44C-4FB356A87DE6}"/>
              </a:ext>
            </a:extLst>
          </p:cNvPr>
          <p:cNvSpPr txBox="1">
            <a:spLocks/>
          </p:cNvSpPr>
          <p:nvPr/>
        </p:nvSpPr>
        <p:spPr>
          <a:xfrm>
            <a:off x="2290099" y="809728"/>
            <a:ext cx="6853901" cy="22191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4000" b="1" kern="120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Behavioral Segmentation and Intent Analysis: </a:t>
            </a:r>
            <a:endParaRPr lang="en-US" sz="4000" b="1" kern="1200" dirty="0">
              <a:solidFill>
                <a:srgbClr val="0082F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Bef>
                <a:spcPts val="1200"/>
              </a:spcBef>
            </a:pPr>
            <a:r>
              <a:rPr lang="en-US" sz="1800" b="1" kern="1200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Recommendation Alignment &amp; Causal Drivers of Family Planning</a:t>
            </a:r>
          </a:p>
        </p:txBody>
      </p:sp>
      <p:pic>
        <p:nvPicPr>
          <p:cNvPr id="1026" name="Picture 2" descr="A close up of a brochure with hearts on it">
            <a:extLst>
              <a:ext uri="{FF2B5EF4-FFF2-40B4-BE49-F238E27FC236}">
                <a16:creationId xmlns:a16="http://schemas.microsoft.com/office/drawing/2014/main" id="{F50277B3-530F-8EC1-9A92-F8858613B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2" r="23782"/>
          <a:stretch>
            <a:fillRect/>
          </a:stretch>
        </p:blipFill>
        <p:spPr bwMode="auto">
          <a:xfrm>
            <a:off x="0" y="0"/>
            <a:ext cx="2290098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6D7291E-A150-85C5-7EB6-9FA0B439FF8D}"/>
              </a:ext>
            </a:extLst>
          </p:cNvPr>
          <p:cNvGrpSpPr>
            <a:grpSpLocks noChangeAspect="1"/>
          </p:cNvGrpSpPr>
          <p:nvPr/>
        </p:nvGrpSpPr>
        <p:grpSpPr>
          <a:xfrm>
            <a:off x="3616898" y="3233787"/>
            <a:ext cx="4200301" cy="1005840"/>
            <a:chOff x="2689141" y="3136440"/>
            <a:chExt cx="5754535" cy="1378030"/>
          </a:xfrm>
        </p:grpSpPr>
        <p:pic>
          <p:nvPicPr>
            <p:cNvPr id="1034" name="Picture 10" descr="Spacy logo - Free Icon PNG, SVG">
              <a:extLst>
                <a:ext uri="{FF2B5EF4-FFF2-40B4-BE49-F238E27FC236}">
                  <a16:creationId xmlns:a16="http://schemas.microsoft.com/office/drawing/2014/main" id="{DA602E14-EC3F-2860-0CA4-7850F58FA1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197" b="32134"/>
            <a:stretch>
              <a:fillRect/>
            </a:stretch>
          </p:blipFill>
          <p:spPr bwMode="auto">
            <a:xfrm>
              <a:off x="6947445" y="3136440"/>
              <a:ext cx="149623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F858158F-D7D8-8F1B-A882-97437A646B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3892088"/>
              <a:ext cx="101613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0" name="Picture 16">
              <a:extLst>
                <a:ext uri="{FF2B5EF4-FFF2-40B4-BE49-F238E27FC236}">
                  <a16:creationId xmlns:a16="http://schemas.microsoft.com/office/drawing/2014/main" id="{2B22D465-3D0E-29F6-F82B-B1D6D3AAC8B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000" b="15000"/>
            <a:stretch>
              <a:fillRect/>
            </a:stretch>
          </p:blipFill>
          <p:spPr bwMode="auto">
            <a:xfrm>
              <a:off x="4866924" y="3136440"/>
              <a:ext cx="1936732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6" name="Picture 22">
              <a:extLst>
                <a:ext uri="{FF2B5EF4-FFF2-40B4-BE49-F238E27FC236}">
                  <a16:creationId xmlns:a16="http://schemas.microsoft.com/office/drawing/2014/main" id="{BCB10A5F-8B40-C982-CA6F-3400C023EF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1559" b="19456"/>
            <a:stretch>
              <a:fillRect/>
            </a:stretch>
          </p:blipFill>
          <p:spPr bwMode="auto">
            <a:xfrm>
              <a:off x="2689141" y="3136440"/>
              <a:ext cx="2033994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0" name="Picture 26" descr="shap">
              <a:extLst>
                <a:ext uri="{FF2B5EF4-FFF2-40B4-BE49-F238E27FC236}">
                  <a16:creationId xmlns:a16="http://schemas.microsoft.com/office/drawing/2014/main" id="{C622453C-033F-9CB3-0FED-A43BFC86BF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grayscl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9856" b="89904" l="4909" r="95000">
                          <a14:foregroundMark x1="35455" y1="20913" x2="35455" y2="20913"/>
                          <a14:foregroundMark x1="72455" y1="36779" x2="72455" y2="36779"/>
                          <a14:foregroundMark x1="86727" y1="38462" x2="86727" y2="38462"/>
                          <a14:foregroundMark x1="95000" y1="47837" x2="95000" y2="47837"/>
                          <a14:foregroundMark x1="23909" y1="30288" x2="23909" y2="30288"/>
                          <a14:foregroundMark x1="19818" y1="22356" x2="19818" y2="22356"/>
                          <a14:foregroundMark x1="14364" y1="19952" x2="14364" y2="19952"/>
                          <a14:foregroundMark x1="9909" y1="23077" x2="9909" y2="23077"/>
                          <a14:foregroundMark x1="4909" y1="37019" x2="4909" y2="37019"/>
                          <a14:foregroundMark x1="5000" y1="62981" x2="5000" y2="62981"/>
                          <a14:foregroundMark x1="5545" y1="65865" x2="5545" y2="65865"/>
                          <a14:foregroundMark x1="10182" y1="66587" x2="10182" y2="66587"/>
                          <a14:foregroundMark x1="15091" y1="61779" x2="15091" y2="61779"/>
                          <a14:foregroundMark x1="15091" y1="61779" x2="15091" y2="61779"/>
                          <a14:foregroundMark x1="15091" y1="61779" x2="15091" y2="61779"/>
                          <a14:foregroundMark x1="15091" y1="61779" x2="15091" y2="61779"/>
                          <a14:foregroundMark x1="15091" y1="61779" x2="15091" y2="61779"/>
                          <a14:foregroundMark x1="20909" y1="49519" x2="20909" y2="49519"/>
                          <a14:foregroundMark x1="24091" y1="53365" x2="24091" y2="53365"/>
                          <a14:foregroundMark x1="34273" y1="25721" x2="34273" y2="25721"/>
                          <a14:foregroundMark x1="34273" y1="25721" x2="34273" y2="25721"/>
                          <a14:foregroundMark x1="34273" y1="25721" x2="34273" y2="25721"/>
                          <a14:foregroundMark x1="50455" y1="38462" x2="50455" y2="3846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449" y="3965830"/>
              <a:ext cx="1450949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285C9-D7F9-70FB-71B7-E53099EBC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88" y="181080"/>
            <a:ext cx="6271142" cy="914400"/>
          </a:xfrm>
        </p:spPr>
        <p:txBody>
          <a:bodyPr anchor="ctr"/>
          <a:lstStyle/>
          <a:p>
            <a:r>
              <a:rPr lang="en-US" sz="2400" kern="1200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Executive Summary</a:t>
            </a:r>
            <a:br>
              <a:rPr lang="en-US" sz="2400" kern="1200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400" b="0" kern="1200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Optimizing Match Relevance by Decoupling Interest from Intent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125EBC-43FB-250B-F3C0-4BA6BC347B96}"/>
              </a:ext>
            </a:extLst>
          </p:cNvPr>
          <p:cNvSpPr/>
          <p:nvPr/>
        </p:nvSpPr>
        <p:spPr>
          <a:xfrm>
            <a:off x="266388" y="1493895"/>
            <a:ext cx="6271142" cy="457200"/>
          </a:xfrm>
          <a:prstGeom prst="rect">
            <a:avLst/>
          </a:prstGeom>
          <a:solidFill>
            <a:srgbClr val="EFEFEF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Demographics provide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79% baseline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accuracy for family planning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but miss the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child-free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vs.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 ready 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distinction.</a:t>
            </a: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0E042ADF-6811-47A4-C474-0D8AE5F3AB75}"/>
              </a:ext>
            </a:extLst>
          </p:cNvPr>
          <p:cNvSpPr/>
          <p:nvPr/>
        </p:nvSpPr>
        <p:spPr>
          <a:xfrm>
            <a:off x="266388" y="1132830"/>
            <a:ext cx="6271142" cy="365760"/>
          </a:xfrm>
          <a:prstGeom prst="round2SameRect">
            <a:avLst/>
          </a:prstGeom>
          <a:solidFill>
            <a:srgbClr val="0082FB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Demographics fail to capture the nuance of user intent.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BAB70-1060-C83B-FAD2-2096A603165D}"/>
              </a:ext>
            </a:extLst>
          </p:cNvPr>
          <p:cNvSpPr/>
          <p:nvPr/>
        </p:nvSpPr>
        <p:spPr>
          <a:xfrm>
            <a:off x="266388" y="2502333"/>
            <a:ext cx="6271142" cy="457200"/>
          </a:xfrm>
          <a:prstGeom prst="rect">
            <a:avLst/>
          </a:prstGeom>
          <a:solidFill>
            <a:srgbClr val="EFEFEF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Users seeking “love” and “connection</a:t>
            </a:r>
            <a:r>
              <a:rPr lang="en-US" sz="12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showed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meaningful increase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 family planning, highlighting an inverse of algorithmic assumptions.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5132ADF8-D86D-5352-F3CA-59CC43FAA789}"/>
              </a:ext>
            </a:extLst>
          </p:cNvPr>
          <p:cNvSpPr/>
          <p:nvPr/>
        </p:nvSpPr>
        <p:spPr>
          <a:xfrm>
            <a:off x="266388" y="2138670"/>
            <a:ext cx="6271142" cy="365760"/>
          </a:xfrm>
          <a:prstGeom prst="round2SameRect">
            <a:avLst/>
          </a:prstGeom>
          <a:solidFill>
            <a:srgbClr val="0082FB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Romance signals are not a proxy for family planning.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439969-43CF-6355-7E20-99EC28543FD8}"/>
              </a:ext>
            </a:extLst>
          </p:cNvPr>
          <p:cNvSpPr/>
          <p:nvPr/>
        </p:nvSpPr>
        <p:spPr>
          <a:xfrm>
            <a:off x="266388" y="3507014"/>
            <a:ext cx="6271142" cy="457200"/>
          </a:xfrm>
          <a:prstGeom prst="rect">
            <a:avLst/>
          </a:prstGeom>
          <a:solidFill>
            <a:srgbClr val="EFEFEF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Socialite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behaviors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increase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family planning by +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18.5%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while 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Techie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interests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decrease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family planning by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-19.8%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07E7C271-6C7E-E7A3-856D-7ADFCB43F5A0}"/>
              </a:ext>
            </a:extLst>
          </p:cNvPr>
          <p:cNvSpPr/>
          <p:nvPr/>
        </p:nvSpPr>
        <p:spPr>
          <a:xfrm>
            <a:off x="266388" y="3144510"/>
            <a:ext cx="6271142" cy="365760"/>
          </a:xfrm>
          <a:prstGeom prst="round2SameRect">
            <a:avLst/>
          </a:prstGeom>
          <a:solidFill>
            <a:srgbClr val="0082FB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Psychographic personas provide improved matching.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9C4650-1BAC-631E-BA73-4E0C1333DF44}"/>
              </a:ext>
            </a:extLst>
          </p:cNvPr>
          <p:cNvSpPr/>
          <p:nvPr/>
        </p:nvSpPr>
        <p:spPr>
          <a:xfrm>
            <a:off x="266388" y="4515936"/>
            <a:ext cx="6271142" cy="457200"/>
          </a:xfrm>
          <a:prstGeom prst="rect">
            <a:avLst/>
          </a:prstGeom>
          <a:solidFill>
            <a:srgbClr val="EFEFEF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Decouple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interest-based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matching from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intent-based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matching to reduce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false positives and avoid nudging users toward incompatible partners.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AD2217AA-87A0-0F1C-9762-B7416ADD8AD6}"/>
              </a:ext>
            </a:extLst>
          </p:cNvPr>
          <p:cNvSpPr/>
          <p:nvPr/>
        </p:nvSpPr>
        <p:spPr>
          <a:xfrm>
            <a:off x="266388" y="4150350"/>
            <a:ext cx="6271142" cy="365760"/>
          </a:xfrm>
          <a:prstGeom prst="round2SameRect">
            <a:avLst/>
          </a:prstGeom>
          <a:solidFill>
            <a:srgbClr val="0082FB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Algorithmic alignment requires distinct tracks.</a:t>
            </a:r>
          </a:p>
        </p:txBody>
      </p:sp>
      <p:pic>
        <p:nvPicPr>
          <p:cNvPr id="12" name="Graphic 11" descr="User with solid fill">
            <a:extLst>
              <a:ext uri="{FF2B5EF4-FFF2-40B4-BE49-F238E27FC236}">
                <a16:creationId xmlns:a16="http://schemas.microsoft.com/office/drawing/2014/main" id="{3A8BCA82-7AD7-46EE-2538-A9ACB7BC1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1094859"/>
            <a:ext cx="438912" cy="438912"/>
          </a:xfrm>
          <a:prstGeom prst="rect">
            <a:avLst/>
          </a:prstGeom>
        </p:spPr>
      </p:pic>
      <p:pic>
        <p:nvPicPr>
          <p:cNvPr id="13" name="Graphic 12" descr="Lightbulb and gear with solid fill">
            <a:extLst>
              <a:ext uri="{FF2B5EF4-FFF2-40B4-BE49-F238E27FC236}">
                <a16:creationId xmlns:a16="http://schemas.microsoft.com/office/drawing/2014/main" id="{C7656902-EDF9-BFDF-62C7-3B95643179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229" y="4139811"/>
            <a:ext cx="384048" cy="384048"/>
          </a:xfrm>
          <a:prstGeom prst="rect">
            <a:avLst/>
          </a:prstGeom>
        </p:spPr>
      </p:pic>
      <p:pic>
        <p:nvPicPr>
          <p:cNvPr id="17" name="Graphic 16" descr="Bar graph with upward trend with solid fill">
            <a:extLst>
              <a:ext uri="{FF2B5EF4-FFF2-40B4-BE49-F238E27FC236}">
                <a16:creationId xmlns:a16="http://schemas.microsoft.com/office/drawing/2014/main" id="{3246E09F-F37F-6EF6-2BDF-A344FC5EC4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1480" y="3133971"/>
            <a:ext cx="411480" cy="411480"/>
          </a:xfrm>
          <a:prstGeom prst="rect">
            <a:avLst/>
          </a:prstGeom>
        </p:spPr>
      </p:pic>
      <p:pic>
        <p:nvPicPr>
          <p:cNvPr id="18" name="Graphic 17" descr="Comment Heart with solid fill">
            <a:extLst>
              <a:ext uri="{FF2B5EF4-FFF2-40B4-BE49-F238E27FC236}">
                <a16:creationId xmlns:a16="http://schemas.microsoft.com/office/drawing/2014/main" id="{25F15EA4-8021-4ED0-5755-1D32634114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411480" y="2092950"/>
            <a:ext cx="457200" cy="457200"/>
          </a:xfrm>
          <a:prstGeom prst="rect">
            <a:avLst/>
          </a:prstGeom>
        </p:spPr>
      </p:pic>
      <p:pic>
        <p:nvPicPr>
          <p:cNvPr id="21" name="Picture 20" descr="A heart shaped box with small squares attached to it&#10;&#10;AI-generated content may be incorrect.">
            <a:extLst>
              <a:ext uri="{FF2B5EF4-FFF2-40B4-BE49-F238E27FC236}">
                <a16:creationId xmlns:a16="http://schemas.microsoft.com/office/drawing/2014/main" id="{91137E48-5766-AFF0-FBA6-2FCAF9E5CDA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4541" r="14541"/>
          <a:stretch>
            <a:fillRect/>
          </a:stretch>
        </p:blipFill>
        <p:spPr>
          <a:xfrm>
            <a:off x="6867786" y="0"/>
            <a:ext cx="227621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79552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494C751-7FF3-2E40-7AF4-1A5D6B135AC7}"/>
              </a:ext>
            </a:extLst>
          </p:cNvPr>
          <p:cNvSpPr/>
          <p:nvPr/>
        </p:nvSpPr>
        <p:spPr>
          <a:xfrm>
            <a:off x="3429000" y="1796123"/>
            <a:ext cx="2286000" cy="2780536"/>
          </a:xfrm>
          <a:prstGeom prst="rect">
            <a:avLst/>
          </a:prstGeom>
          <a:solidFill>
            <a:srgbClr val="EFEFEF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Method:</a:t>
            </a:r>
          </a:p>
          <a:p>
            <a:pPr algn="ctr"/>
            <a:endParaRPr lang="en-US" sz="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Applied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Latent Dirichlet Allocation (LDA)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to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~60,000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unstructured user essays to identify hidden user themes.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Outcome:</a:t>
            </a:r>
          </a:p>
          <a:p>
            <a:pPr algn="ctr"/>
            <a:endParaRPr lang="en-US" sz="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Identified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 distinct psychographic clusters 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(e.g., The Socialite, The Techie, The Romantic) that cut across demographic lines.</a:t>
            </a:r>
            <a:endParaRPr lang="en-US" sz="12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D174BA-BE51-F105-683C-510ABE79E35B}"/>
              </a:ext>
            </a:extLst>
          </p:cNvPr>
          <p:cNvSpPr/>
          <p:nvPr/>
        </p:nvSpPr>
        <p:spPr>
          <a:xfrm>
            <a:off x="6378675" y="1793667"/>
            <a:ext cx="2286000" cy="2780536"/>
          </a:xfrm>
          <a:prstGeom prst="rect">
            <a:avLst/>
          </a:prstGeom>
          <a:solidFill>
            <a:srgbClr val="EFEFEF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Method:</a:t>
            </a:r>
          </a:p>
          <a:p>
            <a:pPr algn="ctr"/>
            <a:endParaRPr lang="en-US" sz="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Used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Propensity Score Matching (PSM) 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control for confounding variables and calculate persona lift.</a:t>
            </a:r>
            <a:endParaRPr lang="en-US" sz="12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Outcome:</a:t>
            </a:r>
          </a:p>
          <a:p>
            <a:pPr algn="ctr"/>
            <a:endParaRPr lang="en-US" sz="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Validated which personas were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causal drivers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family intent (social behaviors) and which were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proxy signals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(romantic aspirations). </a:t>
            </a:r>
            <a:endParaRPr lang="en-US" sz="12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C22638-0D7C-609A-1856-4DEAED8D1574}"/>
              </a:ext>
            </a:extLst>
          </p:cNvPr>
          <p:cNvSpPr/>
          <p:nvPr/>
        </p:nvSpPr>
        <p:spPr>
          <a:xfrm>
            <a:off x="479325" y="1796259"/>
            <a:ext cx="2286000" cy="2780536"/>
          </a:xfrm>
          <a:prstGeom prst="rect">
            <a:avLst/>
          </a:prstGeom>
          <a:solidFill>
            <a:srgbClr val="EFEFEF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Method:</a:t>
            </a:r>
          </a:p>
          <a:p>
            <a:pPr algn="ctr"/>
            <a:endParaRPr lang="en-US" sz="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Trained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Gradient Boosting Classifiers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on structured demographic data (age, sexuality, religion).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Outcome:</a:t>
            </a:r>
          </a:p>
          <a:p>
            <a:pPr algn="ctr"/>
            <a:endParaRPr lang="en-US" sz="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Achieved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79% accuracy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showing demographics are a strong gatekeeper, but fails to distinguish nuances between life stage and lifestyle choices.</a:t>
            </a:r>
            <a:endParaRPr lang="en-US" sz="12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DE2E0-8376-98A7-6CA9-F9141229F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880"/>
            <a:ext cx="9144000" cy="914400"/>
          </a:xfrm>
        </p:spPr>
        <p:txBody>
          <a:bodyPr anchor="ctr"/>
          <a:lstStyle/>
          <a:p>
            <a:r>
              <a:rPr lang="en-US" sz="2400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Data to Insight: The Research Pipeline</a:t>
            </a:r>
            <a:br>
              <a:rPr lang="en-US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400" b="0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Triangulating User Intent via Machine Learning, Natural Language Processing, and Causal Inference</a:t>
            </a:r>
            <a:endParaRPr lang="en-US" b="0" dirty="0">
              <a:solidFill>
                <a:srgbClr val="0082F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BC0554E4-8744-9919-7D31-1FDB27940D14}"/>
              </a:ext>
            </a:extLst>
          </p:cNvPr>
          <p:cNvSpPr/>
          <p:nvPr/>
        </p:nvSpPr>
        <p:spPr>
          <a:xfrm>
            <a:off x="479325" y="1247483"/>
            <a:ext cx="2286000" cy="548640"/>
          </a:xfrm>
          <a:prstGeom prst="round2SameRect">
            <a:avLst/>
          </a:prstGeom>
          <a:solidFill>
            <a:srgbClr val="0082FB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Baseline</a:t>
            </a:r>
          </a:p>
          <a:p>
            <a:pPr algn="ctr">
              <a:spcBef>
                <a:spcPts val="300"/>
              </a:spcBef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Supervised ML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BD83E601-5BD8-4BCF-FCD5-32C7E5A8D455}"/>
              </a:ext>
            </a:extLst>
          </p:cNvPr>
          <p:cNvSpPr/>
          <p:nvPr/>
        </p:nvSpPr>
        <p:spPr>
          <a:xfrm>
            <a:off x="3429000" y="1247483"/>
            <a:ext cx="2286000" cy="548640"/>
          </a:xfrm>
          <a:prstGeom prst="round2SameRect">
            <a:avLst/>
          </a:prstGeom>
          <a:solidFill>
            <a:srgbClr val="0082FB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Discovery</a:t>
            </a:r>
          </a:p>
          <a:p>
            <a:pPr algn="ctr">
              <a:spcBef>
                <a:spcPts val="300"/>
              </a:spcBef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Unsupervised NLP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BA2A95FC-E86A-07B5-E4E8-4ABC830904C7}"/>
              </a:ext>
            </a:extLst>
          </p:cNvPr>
          <p:cNvSpPr/>
          <p:nvPr/>
        </p:nvSpPr>
        <p:spPr>
          <a:xfrm>
            <a:off x="6378675" y="1247483"/>
            <a:ext cx="2286000" cy="548640"/>
          </a:xfrm>
          <a:prstGeom prst="round2SameRect">
            <a:avLst/>
          </a:prstGeom>
          <a:solidFill>
            <a:srgbClr val="0082FB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Validation</a:t>
            </a:r>
          </a:p>
          <a:p>
            <a:pPr algn="ctr">
              <a:spcBef>
                <a:spcPts val="300"/>
              </a:spcBef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Causal Inference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15CA307-BE69-D5D9-CF57-90C8749EB733}"/>
              </a:ext>
            </a:extLst>
          </p:cNvPr>
          <p:cNvCxnSpPr>
            <a:cxnSpLocks/>
          </p:cNvCxnSpPr>
          <p:nvPr/>
        </p:nvCxnSpPr>
        <p:spPr>
          <a:xfrm>
            <a:off x="2824317" y="1521803"/>
            <a:ext cx="54864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9EBBFCA-F0C8-92D2-4D56-DBD53899A82E}"/>
              </a:ext>
            </a:extLst>
          </p:cNvPr>
          <p:cNvCxnSpPr>
            <a:cxnSpLocks/>
          </p:cNvCxnSpPr>
          <p:nvPr/>
        </p:nvCxnSpPr>
        <p:spPr>
          <a:xfrm>
            <a:off x="5778910" y="1519349"/>
            <a:ext cx="54864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9FECBE-D2F7-3835-51D5-F429BD3DF4C4}"/>
              </a:ext>
            </a:extLst>
          </p:cNvPr>
          <p:cNvSpPr/>
          <p:nvPr/>
        </p:nvSpPr>
        <p:spPr>
          <a:xfrm>
            <a:off x="1712422" y="4956341"/>
            <a:ext cx="774545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NumPy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221CEE-6B7E-B921-F07E-6FB2E2006B49}"/>
              </a:ext>
            </a:extLst>
          </p:cNvPr>
          <p:cNvSpPr/>
          <p:nvPr/>
        </p:nvSpPr>
        <p:spPr>
          <a:xfrm>
            <a:off x="92052" y="4956342"/>
            <a:ext cx="774545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ACDF2F-3BBA-F9D0-042C-1FA8F9C1427C}"/>
              </a:ext>
            </a:extLst>
          </p:cNvPr>
          <p:cNvSpPr/>
          <p:nvPr/>
        </p:nvSpPr>
        <p:spPr>
          <a:xfrm>
            <a:off x="902237" y="4956341"/>
            <a:ext cx="774545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Pandas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4FD0C6B-D099-1593-1F1A-7763C6D5DC88}"/>
              </a:ext>
            </a:extLst>
          </p:cNvPr>
          <p:cNvSpPr/>
          <p:nvPr/>
        </p:nvSpPr>
        <p:spPr>
          <a:xfrm>
            <a:off x="2522607" y="4956340"/>
            <a:ext cx="774545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Matplotlib</a:t>
            </a:r>
          </a:p>
        </p:txBody>
      </p:sp>
    </p:spTree>
    <p:extLst>
      <p:ext uri="{BB962C8B-B14F-4D97-AF65-F5344CB8AC3E}">
        <p14:creationId xmlns:p14="http://schemas.microsoft.com/office/powerpoint/2010/main" val="352992088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E56731C-6505-936D-8038-21F0F1E900AB}"/>
              </a:ext>
            </a:extLst>
          </p:cNvPr>
          <p:cNvSpPr/>
          <p:nvPr/>
        </p:nvSpPr>
        <p:spPr>
          <a:xfrm>
            <a:off x="1066763" y="4359377"/>
            <a:ext cx="7010474" cy="365760"/>
          </a:xfrm>
          <a:prstGeom prst="rect">
            <a:avLst/>
          </a:prstGeom>
          <a:solidFill>
            <a:srgbClr val="EFEFEF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35-year-old </a:t>
            </a: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child-free</a:t>
            </a:r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user is </a:t>
            </a: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identical</a:t>
            </a:r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to a 35-year-old </a:t>
            </a: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family-seeker</a:t>
            </a:r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leading to high-friction matches.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DD8062-89AD-0723-3635-DF5E09F059BE}"/>
              </a:ext>
            </a:extLst>
          </p:cNvPr>
          <p:cNvSpPr/>
          <p:nvPr/>
        </p:nvSpPr>
        <p:spPr>
          <a:xfrm>
            <a:off x="6410434" y="1806669"/>
            <a:ext cx="2296874" cy="1763464"/>
          </a:xfrm>
          <a:prstGeom prst="rect">
            <a:avLst/>
          </a:prstGeom>
          <a:solidFill>
            <a:srgbClr val="EFEFEF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6" algn="ctr"/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Life Stage:</a:t>
            </a:r>
          </a:p>
          <a:p>
            <a:pPr marL="228600" lvl="6" indent="-228600" algn="ctr"/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 &amp; Age X Education Level</a:t>
            </a:r>
          </a:p>
          <a:p>
            <a:pPr lvl="6" algn="ctr"/>
            <a:endParaRPr lang="en-US" sz="4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6" algn="ctr"/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Identity:</a:t>
            </a:r>
          </a:p>
          <a:p>
            <a:pPr marL="228600" lvl="6" indent="-228600" algn="ctr"/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Sexual Orientation &amp; Religion</a:t>
            </a:r>
          </a:p>
          <a:p>
            <a:pPr marL="228600" lvl="6" indent="-228600" algn="ctr"/>
            <a:endParaRPr lang="en-US" sz="4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6" algn="ctr"/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Emotional Disposition:</a:t>
            </a:r>
          </a:p>
          <a:p>
            <a:pPr marL="228600" lvl="6" indent="-228600" algn="ctr"/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Essay Polarity</a:t>
            </a:r>
          </a:p>
          <a:p>
            <a:pPr marL="228600" lvl="6" indent="-228600" algn="ctr"/>
            <a:endParaRPr lang="en-US" sz="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6" algn="ctr"/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Habits:</a:t>
            </a:r>
          </a:p>
          <a:p>
            <a:pPr marL="228600" lvl="6" indent="-228600" algn="ctr"/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Drug Use &amp; Drinking Habits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7B4B8-DAAE-BEBA-E8AC-B79B36838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879"/>
            <a:ext cx="9144000" cy="914400"/>
          </a:xfrm>
        </p:spPr>
        <p:txBody>
          <a:bodyPr anchor="ctr"/>
          <a:lstStyle/>
          <a:p>
            <a:r>
              <a:rPr lang="en-US" sz="2400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Demographics Miss Lifestyle Choice Nuance</a:t>
            </a:r>
            <a:br>
              <a:rPr lang="en-US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400" b="0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Baseline Gradient Boosting Model: SHAP Feature Importance Analysis</a:t>
            </a:r>
            <a:endParaRPr lang="en-US" b="0" dirty="0">
              <a:solidFill>
                <a:srgbClr val="0082F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C4D930E5-7C4C-36BD-5BB9-72E7F8F314A3}"/>
              </a:ext>
            </a:extLst>
          </p:cNvPr>
          <p:cNvSpPr/>
          <p:nvPr/>
        </p:nvSpPr>
        <p:spPr>
          <a:xfrm>
            <a:off x="6410434" y="1353915"/>
            <a:ext cx="2296874" cy="457200"/>
          </a:xfrm>
          <a:prstGeom prst="round2SameRect">
            <a:avLst/>
          </a:prstGeom>
          <a:solidFill>
            <a:srgbClr val="0082FB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Demographic Predictors</a:t>
            </a:r>
          </a:p>
          <a:p>
            <a:pPr algn="ctr"/>
            <a:r>
              <a:rPr lang="en-US" sz="1100" dirty="0">
                <a:latin typeface="Segoe UI" panose="020B0502040204020203" pitchFamily="34" charset="0"/>
                <a:cs typeface="Segoe UI" panose="020B0502040204020203" pitchFamily="34" charset="0"/>
              </a:rPr>
              <a:t>(&gt; .02 SHAP Value)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4D15EDA-542C-47F7-244C-1BFE39F1C9FC}"/>
              </a:ext>
            </a:extLst>
          </p:cNvPr>
          <p:cNvSpPr/>
          <p:nvPr/>
        </p:nvSpPr>
        <p:spPr>
          <a:xfrm>
            <a:off x="1066763" y="3993406"/>
            <a:ext cx="7010474" cy="365971"/>
          </a:xfrm>
          <a:prstGeom prst="round2SameRect">
            <a:avLst/>
          </a:prstGeom>
          <a:solidFill>
            <a:srgbClr val="0082FB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model focuses too heavily on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Life Stage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and misses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Lifestyle Choices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0A356CA-8A85-D29D-3F7C-57AD64B94D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5150009"/>
              </p:ext>
            </p:extLst>
          </p:nvPr>
        </p:nvGraphicFramePr>
        <p:xfrm>
          <a:off x="196218" y="981044"/>
          <a:ext cx="60350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F5937C-4C97-1329-57A5-D0D62100B5B8}"/>
              </a:ext>
            </a:extLst>
          </p:cNvPr>
          <p:cNvSpPr/>
          <p:nvPr/>
        </p:nvSpPr>
        <p:spPr>
          <a:xfrm>
            <a:off x="1712422" y="4956341"/>
            <a:ext cx="774545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SHAP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3D9DAF-40A5-E2A1-2E03-113F65A5A275}"/>
              </a:ext>
            </a:extLst>
          </p:cNvPr>
          <p:cNvSpPr/>
          <p:nvPr/>
        </p:nvSpPr>
        <p:spPr>
          <a:xfrm>
            <a:off x="92052" y="4956342"/>
            <a:ext cx="774545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8F9CC4-412E-0E30-A731-53F2F956075D}"/>
              </a:ext>
            </a:extLst>
          </p:cNvPr>
          <p:cNvSpPr/>
          <p:nvPr/>
        </p:nvSpPr>
        <p:spPr>
          <a:xfrm>
            <a:off x="902237" y="4956341"/>
            <a:ext cx="774545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XGBoost</a:t>
            </a:r>
            <a:endParaRPr lang="en-US" sz="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28B596-637B-5E4B-C1EC-BADAB98FBFD4}"/>
              </a:ext>
            </a:extLst>
          </p:cNvPr>
          <p:cNvSpPr/>
          <p:nvPr/>
        </p:nvSpPr>
        <p:spPr>
          <a:xfrm>
            <a:off x="2522607" y="4956340"/>
            <a:ext cx="774545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Scikit-Learn</a:t>
            </a:r>
          </a:p>
        </p:txBody>
      </p:sp>
    </p:spTree>
    <p:extLst>
      <p:ext uri="{BB962C8B-B14F-4D97-AF65-F5344CB8AC3E}">
        <p14:creationId xmlns:p14="http://schemas.microsoft.com/office/powerpoint/2010/main" val="26580418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29371-63F9-92B6-B08E-9424B721B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2EB3C-B853-43B5-0031-D6C1F84B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879"/>
            <a:ext cx="9144000" cy="914400"/>
          </a:xfrm>
        </p:spPr>
        <p:txBody>
          <a:bodyPr anchor="ctr"/>
          <a:lstStyle/>
          <a:p>
            <a:r>
              <a:rPr lang="en-US" sz="2400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Unlocking Psychographics: Language is a Behavior</a:t>
            </a:r>
            <a:br>
              <a:rPr lang="en-US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400" b="0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Latent Dirichlet Allocation (LDA) Topic Modeling of User Essays</a:t>
            </a:r>
            <a:endParaRPr lang="en-US" b="0" dirty="0">
              <a:solidFill>
                <a:srgbClr val="0082F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E17E38C-25B6-6355-C14E-CEAFAC9623B5}"/>
              </a:ext>
            </a:extLst>
          </p:cNvPr>
          <p:cNvGrpSpPr/>
          <p:nvPr/>
        </p:nvGrpSpPr>
        <p:grpSpPr>
          <a:xfrm>
            <a:off x="276299" y="1278614"/>
            <a:ext cx="2560320" cy="1463040"/>
            <a:chOff x="276299" y="1433594"/>
            <a:chExt cx="2560320" cy="146304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3B7E674-B8F4-9FB4-A823-4B91B2470832}"/>
                </a:ext>
              </a:extLst>
            </p:cNvPr>
            <p:cNvSpPr/>
            <p:nvPr/>
          </p:nvSpPr>
          <p:spPr>
            <a:xfrm>
              <a:off x="276299" y="1433594"/>
              <a:ext cx="2560320" cy="1463040"/>
            </a:xfrm>
            <a:prstGeom prst="roundRect">
              <a:avLst>
                <a:gd name="adj" fmla="val 7993"/>
              </a:avLst>
            </a:prstGeom>
            <a:solidFill>
              <a:srgbClr val="0082F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52E1024-96E2-A717-5FE4-B1D9FE524363}"/>
                </a:ext>
              </a:extLst>
            </p:cNvPr>
            <p:cNvSpPr/>
            <p:nvPr/>
          </p:nvSpPr>
          <p:spPr>
            <a:xfrm>
              <a:off x="373312" y="1555477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234FD8B-DEF2-F4D1-D54C-1A013240E224}"/>
                </a:ext>
              </a:extLst>
            </p:cNvPr>
            <p:cNvSpPr txBox="1"/>
            <p:nvPr/>
          </p:nvSpPr>
          <p:spPr>
            <a:xfrm>
              <a:off x="1123627" y="1539979"/>
              <a:ext cx="15343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The Artist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D52F30-C76B-E547-8F0C-5838B24FCE68}"/>
                </a:ext>
              </a:extLst>
            </p:cNvPr>
            <p:cNvSpPr txBox="1"/>
            <p:nvPr/>
          </p:nvSpPr>
          <p:spPr>
            <a:xfrm>
              <a:off x="1123627" y="1883582"/>
              <a:ext cx="164737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/>
                <a:t>Keywords</a:t>
              </a:r>
              <a:r>
                <a:rPr lang="en-US" sz="1100" dirty="0"/>
                <a:t>: </a:t>
              </a:r>
            </a:p>
            <a:p>
              <a:r>
                <a:rPr lang="en-US" sz="1100" dirty="0"/>
                <a:t>Art, Film, Band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8A5C816-C0CD-503F-3524-65BADB00C95A}"/>
                </a:ext>
              </a:extLst>
            </p:cNvPr>
            <p:cNvSpPr txBox="1"/>
            <p:nvPr/>
          </p:nvSpPr>
          <p:spPr>
            <a:xfrm>
              <a:off x="276299" y="2327021"/>
              <a:ext cx="256032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/>
                <a:t>Signal</a:t>
              </a:r>
              <a:r>
                <a:rPr lang="en-US" sz="1100" dirty="0"/>
                <a:t>: Non-traditional lifestyle; values expression, creativity, and aesthetics</a:t>
              </a:r>
              <a:endParaRPr lang="en-US" sz="1100" i="1" dirty="0"/>
            </a:p>
          </p:txBody>
        </p:sp>
        <p:pic>
          <p:nvPicPr>
            <p:cNvPr id="27" name="Picture 26" descr="A line of people with a party hat&#10;&#10;AI-generated content may be incorrect.">
              <a:extLst>
                <a:ext uri="{FF2B5EF4-FFF2-40B4-BE49-F238E27FC236}">
                  <a16:creationId xmlns:a16="http://schemas.microsoft.com/office/drawing/2014/main" id="{121F7076-70CD-E3B8-F954-ECE3D0564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9516" t="33433" r="73646" b="41839"/>
            <a:stretch>
              <a:fillRect/>
            </a:stretch>
          </p:blipFill>
          <p:spPr>
            <a:xfrm>
              <a:off x="355929" y="1589263"/>
              <a:ext cx="709831" cy="694944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B382A3C-6609-331E-EDC7-E07521988392}"/>
              </a:ext>
            </a:extLst>
          </p:cNvPr>
          <p:cNvGrpSpPr/>
          <p:nvPr/>
        </p:nvGrpSpPr>
        <p:grpSpPr>
          <a:xfrm>
            <a:off x="3291840" y="1278614"/>
            <a:ext cx="2560320" cy="1463040"/>
            <a:chOff x="276299" y="1433594"/>
            <a:chExt cx="2560320" cy="1463040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0117B72E-A807-86B8-E314-B6CB423069F6}"/>
                </a:ext>
              </a:extLst>
            </p:cNvPr>
            <p:cNvSpPr/>
            <p:nvPr/>
          </p:nvSpPr>
          <p:spPr>
            <a:xfrm>
              <a:off x="276299" y="1433594"/>
              <a:ext cx="2560320" cy="1463040"/>
            </a:xfrm>
            <a:prstGeom prst="roundRect">
              <a:avLst>
                <a:gd name="adj" fmla="val 7993"/>
              </a:avLst>
            </a:prstGeom>
            <a:solidFill>
              <a:srgbClr val="7CD3C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AB62036-17C3-8311-9738-9A807D5C611E}"/>
                </a:ext>
              </a:extLst>
            </p:cNvPr>
            <p:cNvSpPr/>
            <p:nvPr/>
          </p:nvSpPr>
          <p:spPr>
            <a:xfrm>
              <a:off x="373312" y="1555477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3DA767C-729E-12D1-89CC-5439788CDA9B}"/>
                </a:ext>
              </a:extLst>
            </p:cNvPr>
            <p:cNvSpPr txBox="1"/>
            <p:nvPr/>
          </p:nvSpPr>
          <p:spPr>
            <a:xfrm>
              <a:off x="1123627" y="1539979"/>
              <a:ext cx="15343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The Techie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81D2983-EB0A-49A7-AE07-C9C9213C258F}"/>
                </a:ext>
              </a:extLst>
            </p:cNvPr>
            <p:cNvSpPr txBox="1"/>
            <p:nvPr/>
          </p:nvSpPr>
          <p:spPr>
            <a:xfrm>
              <a:off x="1123627" y="1883582"/>
              <a:ext cx="171299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/>
                <a:t>Keywords</a:t>
              </a:r>
              <a:r>
                <a:rPr lang="en-US" sz="1100" dirty="0"/>
                <a:t>: </a:t>
              </a:r>
            </a:p>
            <a:p>
              <a:r>
                <a:rPr lang="en-US" sz="1100" dirty="0"/>
                <a:t>Game, Video, Computer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BDC3686-AEB7-9649-C033-538F634D50C9}"/>
                </a:ext>
              </a:extLst>
            </p:cNvPr>
            <p:cNvSpPr txBox="1"/>
            <p:nvPr/>
          </p:nvSpPr>
          <p:spPr>
            <a:xfrm>
              <a:off x="276299" y="2327021"/>
              <a:ext cx="256032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/>
                <a:t>Signal</a:t>
              </a:r>
              <a:r>
                <a:rPr lang="en-US" sz="1100" dirty="0"/>
                <a:t>: Niche interests; highly specific media and tech culture compatibility</a:t>
              </a:r>
              <a:endParaRPr lang="en-US" sz="1100" i="1" dirty="0"/>
            </a:p>
          </p:txBody>
        </p:sp>
        <p:pic>
          <p:nvPicPr>
            <p:cNvPr id="36" name="Picture 35" descr="A line of people with a party hat&#10;&#10;AI-generated content may be incorrect.">
              <a:extLst>
                <a:ext uri="{FF2B5EF4-FFF2-40B4-BE49-F238E27FC236}">
                  <a16:creationId xmlns:a16="http://schemas.microsoft.com/office/drawing/2014/main" id="{ED3D6378-60D0-C9FA-8474-85751BBAD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4646" t="30818" r="58516" b="41839"/>
            <a:stretch>
              <a:fillRect/>
            </a:stretch>
          </p:blipFill>
          <p:spPr>
            <a:xfrm>
              <a:off x="384758" y="1507151"/>
              <a:ext cx="717958" cy="77724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5D1EA7A-6BCF-0A20-8D0C-0ED9A96F1B00}"/>
              </a:ext>
            </a:extLst>
          </p:cNvPr>
          <p:cNvGrpSpPr/>
          <p:nvPr/>
        </p:nvGrpSpPr>
        <p:grpSpPr>
          <a:xfrm>
            <a:off x="6307381" y="1278614"/>
            <a:ext cx="2560320" cy="1463040"/>
            <a:chOff x="276299" y="1433594"/>
            <a:chExt cx="2560320" cy="1463040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0BFB0650-068B-C751-86E9-2C7FBEC27318}"/>
                </a:ext>
              </a:extLst>
            </p:cNvPr>
            <p:cNvSpPr/>
            <p:nvPr/>
          </p:nvSpPr>
          <p:spPr>
            <a:xfrm>
              <a:off x="276299" y="1433594"/>
              <a:ext cx="2560320" cy="1463040"/>
            </a:xfrm>
            <a:prstGeom prst="roundRect">
              <a:avLst>
                <a:gd name="adj" fmla="val 7993"/>
              </a:avLst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1BF9FE6-B21B-D620-91FC-4F10AFC6C47B}"/>
                </a:ext>
              </a:extLst>
            </p:cNvPr>
            <p:cNvSpPr/>
            <p:nvPr/>
          </p:nvSpPr>
          <p:spPr>
            <a:xfrm>
              <a:off x="373312" y="1555477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6DF27F6-1E94-9B2E-1C22-A71A7E070390}"/>
                </a:ext>
              </a:extLst>
            </p:cNvPr>
            <p:cNvSpPr txBox="1"/>
            <p:nvPr/>
          </p:nvSpPr>
          <p:spPr>
            <a:xfrm>
              <a:off x="1123627" y="1539979"/>
              <a:ext cx="15343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The Socialite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299280F-4E74-CC1B-3FFE-582519696189}"/>
                </a:ext>
              </a:extLst>
            </p:cNvPr>
            <p:cNvSpPr txBox="1"/>
            <p:nvPr/>
          </p:nvSpPr>
          <p:spPr>
            <a:xfrm>
              <a:off x="1123627" y="1883582"/>
              <a:ext cx="164737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/>
                <a:t>Keywords</a:t>
              </a:r>
              <a:r>
                <a:rPr lang="en-US" sz="1100" dirty="0"/>
                <a:t>: </a:t>
              </a:r>
            </a:p>
            <a:p>
              <a:r>
                <a:rPr lang="en-US" sz="1100" dirty="0"/>
                <a:t>TV, Sports, Dinner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28FD258-9722-830B-F0AD-46ABEEFCF9D0}"/>
                </a:ext>
              </a:extLst>
            </p:cNvPr>
            <p:cNvSpPr txBox="1"/>
            <p:nvPr/>
          </p:nvSpPr>
          <p:spPr>
            <a:xfrm>
              <a:off x="276299" y="2327021"/>
              <a:ext cx="256032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/>
                <a:t>Signal</a:t>
              </a:r>
              <a:r>
                <a:rPr lang="en-US" sz="1100" dirty="0"/>
                <a:t>: High social activity; values community and shared experiences</a:t>
              </a:r>
              <a:endParaRPr lang="en-US" sz="1100" i="1" dirty="0"/>
            </a:p>
          </p:txBody>
        </p:sp>
        <p:pic>
          <p:nvPicPr>
            <p:cNvPr id="43" name="Picture 42" descr="A line of people with a party hat&#10;&#10;AI-generated content may be incorrect.">
              <a:extLst>
                <a:ext uri="{FF2B5EF4-FFF2-40B4-BE49-F238E27FC236}">
                  <a16:creationId xmlns:a16="http://schemas.microsoft.com/office/drawing/2014/main" id="{F5D793CB-C77A-3AD1-5532-8307EFAEC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0967" t="30310" r="42195" b="42347"/>
            <a:stretch>
              <a:fillRect/>
            </a:stretch>
          </p:blipFill>
          <p:spPr>
            <a:xfrm>
              <a:off x="417931" y="1576544"/>
              <a:ext cx="640080" cy="692932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00AD630-DAA8-AD0C-C161-53D0D15BF973}"/>
              </a:ext>
            </a:extLst>
          </p:cNvPr>
          <p:cNvGrpSpPr/>
          <p:nvPr/>
        </p:nvGrpSpPr>
        <p:grpSpPr>
          <a:xfrm>
            <a:off x="4906334" y="3052916"/>
            <a:ext cx="2566293" cy="1463040"/>
            <a:chOff x="276299" y="1433594"/>
            <a:chExt cx="2566293" cy="146304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1AB41F28-7A62-F889-C6A6-BE9D78740BB7}"/>
                </a:ext>
              </a:extLst>
            </p:cNvPr>
            <p:cNvSpPr/>
            <p:nvPr/>
          </p:nvSpPr>
          <p:spPr>
            <a:xfrm>
              <a:off x="276299" y="1433594"/>
              <a:ext cx="2560320" cy="1463040"/>
            </a:xfrm>
            <a:prstGeom prst="roundRect">
              <a:avLst>
                <a:gd name="adj" fmla="val 7993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F6FF4A0-F8C2-2173-B87F-5F300DDF6739}"/>
                </a:ext>
              </a:extLst>
            </p:cNvPr>
            <p:cNvSpPr/>
            <p:nvPr/>
          </p:nvSpPr>
          <p:spPr>
            <a:xfrm>
              <a:off x="373312" y="1555477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2EDDAB5-A4D5-55DF-32FF-43ADB8D31547}"/>
                </a:ext>
              </a:extLst>
            </p:cNvPr>
            <p:cNvSpPr txBox="1"/>
            <p:nvPr/>
          </p:nvSpPr>
          <p:spPr>
            <a:xfrm>
              <a:off x="1123627" y="1539979"/>
              <a:ext cx="15343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The Romantic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379F306-408F-40B4-35B5-680E245DE7B3}"/>
                </a:ext>
              </a:extLst>
            </p:cNvPr>
            <p:cNvSpPr txBox="1"/>
            <p:nvPr/>
          </p:nvSpPr>
          <p:spPr>
            <a:xfrm>
              <a:off x="1111430" y="1883582"/>
              <a:ext cx="173116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/>
                <a:t>Keywords</a:t>
              </a:r>
              <a:r>
                <a:rPr lang="en-US" sz="1100" dirty="0"/>
                <a:t>: </a:t>
              </a:r>
            </a:p>
            <a:p>
              <a:r>
                <a:rPr lang="en-US" sz="1100" dirty="0"/>
                <a:t>Relationship, Soul, Heart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BF8ADC1-5F1E-2260-DBE3-2013173F260E}"/>
                </a:ext>
              </a:extLst>
            </p:cNvPr>
            <p:cNvSpPr txBox="1"/>
            <p:nvPr/>
          </p:nvSpPr>
          <p:spPr>
            <a:xfrm>
              <a:off x="276299" y="2327021"/>
              <a:ext cx="256032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/>
                <a:t>Signal</a:t>
              </a:r>
              <a:r>
                <a:rPr lang="en-US" sz="1100" dirty="0"/>
                <a:t>: Intimacy-focused; explicitly seeking deep emotional connection</a:t>
              </a:r>
              <a:endParaRPr lang="en-US" sz="1100" i="1" dirty="0"/>
            </a:p>
          </p:txBody>
        </p:sp>
        <p:pic>
          <p:nvPicPr>
            <p:cNvPr id="50" name="Picture 49" descr="A line of people with a party hat&#10;&#10;AI-generated content may be incorrect.">
              <a:extLst>
                <a:ext uri="{FF2B5EF4-FFF2-40B4-BE49-F238E27FC236}">
                  <a16:creationId xmlns:a16="http://schemas.microsoft.com/office/drawing/2014/main" id="{67DB155D-0AA0-221E-FF72-2A64DA5C3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3042" t="30426" r="10120" b="42231"/>
            <a:stretch>
              <a:fillRect/>
            </a:stretch>
          </p:blipFill>
          <p:spPr>
            <a:xfrm>
              <a:off x="438758" y="1529203"/>
              <a:ext cx="675725" cy="73152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A888629-1E6E-137F-2565-D787FAF42DE1}"/>
              </a:ext>
            </a:extLst>
          </p:cNvPr>
          <p:cNvGrpSpPr/>
          <p:nvPr/>
        </p:nvGrpSpPr>
        <p:grpSpPr>
          <a:xfrm>
            <a:off x="1677346" y="3052916"/>
            <a:ext cx="2560320" cy="1463040"/>
            <a:chOff x="276299" y="1433594"/>
            <a:chExt cx="2560320" cy="1463040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810FA16C-DF86-8F00-5FFA-7F222E0E9FD7}"/>
                </a:ext>
              </a:extLst>
            </p:cNvPr>
            <p:cNvSpPr/>
            <p:nvPr/>
          </p:nvSpPr>
          <p:spPr>
            <a:xfrm>
              <a:off x="276299" y="1433594"/>
              <a:ext cx="2560320" cy="1463040"/>
            </a:xfrm>
            <a:prstGeom prst="roundRect">
              <a:avLst>
                <a:gd name="adj" fmla="val 7993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A91DD05-B438-008B-5E1C-E097A344876E}"/>
                </a:ext>
              </a:extLst>
            </p:cNvPr>
            <p:cNvSpPr/>
            <p:nvPr/>
          </p:nvSpPr>
          <p:spPr>
            <a:xfrm>
              <a:off x="373312" y="1555477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44C42DF-30F1-B8B4-F485-D265ED3C4DD0}"/>
                </a:ext>
              </a:extLst>
            </p:cNvPr>
            <p:cNvSpPr txBox="1"/>
            <p:nvPr/>
          </p:nvSpPr>
          <p:spPr>
            <a:xfrm>
              <a:off x="1123627" y="1539979"/>
              <a:ext cx="1614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The Professional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DBFD144-283A-4D26-32C7-B60E13B3EA2D}"/>
                </a:ext>
              </a:extLst>
            </p:cNvPr>
            <p:cNvSpPr txBox="1"/>
            <p:nvPr/>
          </p:nvSpPr>
          <p:spPr>
            <a:xfrm>
              <a:off x="1123627" y="1883582"/>
              <a:ext cx="164737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/>
                <a:t>Keywords</a:t>
              </a:r>
              <a:r>
                <a:rPr lang="en-US" sz="1100" dirty="0"/>
                <a:t>: </a:t>
              </a:r>
            </a:p>
            <a:p>
              <a:r>
                <a:rPr lang="en-US" sz="1100" dirty="0"/>
                <a:t>Work, Home, Business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05F736A-7353-C026-BC44-E57227964562}"/>
                </a:ext>
              </a:extLst>
            </p:cNvPr>
            <p:cNvSpPr txBox="1"/>
            <p:nvPr/>
          </p:nvSpPr>
          <p:spPr>
            <a:xfrm>
              <a:off x="276299" y="2327021"/>
              <a:ext cx="256032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/>
                <a:t>Signal</a:t>
              </a:r>
              <a:r>
                <a:rPr lang="en-US" sz="1100" dirty="0"/>
                <a:t>: High ambition; prioritizes stability and career trajectory</a:t>
              </a:r>
              <a:endParaRPr lang="en-US" sz="1100" i="1" dirty="0"/>
            </a:p>
          </p:txBody>
        </p:sp>
        <p:pic>
          <p:nvPicPr>
            <p:cNvPr id="57" name="Picture 56" descr="A line of people with a party hat&#10;&#10;AI-generated content may be incorrect.">
              <a:extLst>
                <a:ext uri="{FF2B5EF4-FFF2-40B4-BE49-F238E27FC236}">
                  <a16:creationId xmlns:a16="http://schemas.microsoft.com/office/drawing/2014/main" id="{636A6B94-09D6-6DC8-BC5A-3B14927C7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6906" t="30517" r="26256" b="42140"/>
            <a:stretch>
              <a:fillRect/>
            </a:stretch>
          </p:blipFill>
          <p:spPr>
            <a:xfrm>
              <a:off x="419707" y="1529203"/>
              <a:ext cx="675725" cy="731520"/>
            </a:xfrm>
            <a:prstGeom prst="rect">
              <a:avLst/>
            </a:prstGeom>
          </p:spPr>
        </p:pic>
      </p:grp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7860266F-8F9B-661A-0C36-69DBEA8F7100}"/>
              </a:ext>
            </a:extLst>
          </p:cNvPr>
          <p:cNvSpPr/>
          <p:nvPr/>
        </p:nvSpPr>
        <p:spPr>
          <a:xfrm>
            <a:off x="1712422" y="4956341"/>
            <a:ext cx="774545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Gensim</a:t>
            </a:r>
            <a:endParaRPr lang="en-US" sz="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B875EE6-90C3-1D48-78F0-7F1615D55A70}"/>
              </a:ext>
            </a:extLst>
          </p:cNvPr>
          <p:cNvSpPr/>
          <p:nvPr/>
        </p:nvSpPr>
        <p:spPr>
          <a:xfrm>
            <a:off x="92052" y="4956342"/>
            <a:ext cx="774545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D8632427-FA17-78E7-CBA5-B26F36C5B496}"/>
              </a:ext>
            </a:extLst>
          </p:cNvPr>
          <p:cNvSpPr/>
          <p:nvPr/>
        </p:nvSpPr>
        <p:spPr>
          <a:xfrm>
            <a:off x="902237" y="4956341"/>
            <a:ext cx="774545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SpaCy</a:t>
            </a:r>
            <a:endParaRPr lang="en-US" sz="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E00741B-5A9F-0A7C-F279-81084D934764}"/>
              </a:ext>
            </a:extLst>
          </p:cNvPr>
          <p:cNvSpPr/>
          <p:nvPr/>
        </p:nvSpPr>
        <p:spPr>
          <a:xfrm>
            <a:off x="2522607" y="4956340"/>
            <a:ext cx="774545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pyLDAvis</a:t>
            </a:r>
            <a:endParaRPr lang="en-US" sz="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9106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7B984-68F3-B5F2-6207-A595A5B6D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DEEB9FC-914C-8838-C7FE-D5C3A1C999A3}"/>
              </a:ext>
            </a:extLst>
          </p:cNvPr>
          <p:cNvSpPr/>
          <p:nvPr/>
        </p:nvSpPr>
        <p:spPr>
          <a:xfrm>
            <a:off x="199080" y="1662581"/>
            <a:ext cx="3098072" cy="3012786"/>
          </a:xfrm>
          <a:prstGeom prst="rect">
            <a:avLst/>
          </a:prstGeom>
          <a:solidFill>
            <a:srgbClr val="EFEFEF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6"/>
            <a:endParaRPr lang="en-US" sz="5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6"/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Challenge:</a:t>
            </a:r>
          </a:p>
          <a:p>
            <a:pPr lvl="6"/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 certain personas (e.g., Socialites) more family-oriented, or just older? </a:t>
            </a:r>
          </a:p>
          <a:p>
            <a:pPr lvl="6" algn="ctr"/>
            <a:endParaRPr lang="en-US" sz="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6"/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Method:</a:t>
            </a:r>
          </a:p>
          <a:p>
            <a:pPr lvl="6"/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Create statistical “twins” for every user (a demographically identical “non-persona”) to isolate causal effects.</a:t>
            </a:r>
          </a:p>
          <a:p>
            <a:pPr lvl="6" algn="ctr"/>
            <a:endParaRPr lang="en-US" sz="5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6"/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</a:p>
          <a:p>
            <a:pPr lvl="6"/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Lifestyle choice is a significant causal driver.</a:t>
            </a:r>
          </a:p>
          <a:p>
            <a:pPr lvl="6"/>
            <a:endParaRPr lang="en-US" sz="1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6" indent="-11112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Socialites</a:t>
            </a:r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Community focus aligns with family goals.</a:t>
            </a:r>
          </a:p>
          <a:p>
            <a:pPr marL="285750" lvl="6" indent="-11112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Techies</a:t>
            </a:r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Niche interests compete with family planning.</a:t>
            </a:r>
          </a:p>
          <a:p>
            <a:pPr marL="285750" lvl="6" indent="-11112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Romantics:</a:t>
            </a:r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“Love” signals are noise, proving intent is distinct from connection.</a:t>
            </a:r>
            <a:endParaRPr lang="en-US" sz="11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3846E1-13ED-CE7A-DEBF-D29FC0CEE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879"/>
            <a:ext cx="9144000" cy="914400"/>
          </a:xfrm>
        </p:spPr>
        <p:txBody>
          <a:bodyPr anchor="ctr"/>
          <a:lstStyle/>
          <a:p>
            <a:r>
              <a:rPr lang="en-US" sz="2400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Lifestyle Choices Drive Family Planning</a:t>
            </a:r>
            <a:br>
              <a:rPr lang="en-US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400" b="0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Validating Causal Drivers via Propensity Score Matching (PSM)</a:t>
            </a:r>
            <a:endParaRPr lang="en-US" b="0" dirty="0">
              <a:solidFill>
                <a:srgbClr val="0082F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FA8F123-7838-E4AC-4424-A4C993C6B5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2146477"/>
              </p:ext>
            </p:extLst>
          </p:nvPr>
        </p:nvGraphicFramePr>
        <p:xfrm>
          <a:off x="3419061" y="1097279"/>
          <a:ext cx="5613621" cy="3578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EF57F35-655B-6FC5-B024-454E8BB5EDD1}"/>
              </a:ext>
            </a:extLst>
          </p:cNvPr>
          <p:cNvSpPr/>
          <p:nvPr/>
        </p:nvSpPr>
        <p:spPr>
          <a:xfrm>
            <a:off x="1712422" y="4956341"/>
            <a:ext cx="774545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SciPy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3976D69-B1F1-8867-3CEC-065545909610}"/>
              </a:ext>
            </a:extLst>
          </p:cNvPr>
          <p:cNvSpPr/>
          <p:nvPr/>
        </p:nvSpPr>
        <p:spPr>
          <a:xfrm>
            <a:off x="92052" y="4956342"/>
            <a:ext cx="774545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D24EDB9-5BA7-7FC6-F059-EB6C691D6D92}"/>
              </a:ext>
            </a:extLst>
          </p:cNvPr>
          <p:cNvSpPr/>
          <p:nvPr/>
        </p:nvSpPr>
        <p:spPr>
          <a:xfrm>
            <a:off x="902237" y="4956341"/>
            <a:ext cx="774545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Scikit-Learn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4C712A8-DA00-8670-DB07-7418D6F0CF61}"/>
              </a:ext>
            </a:extLst>
          </p:cNvPr>
          <p:cNvSpPr/>
          <p:nvPr/>
        </p:nvSpPr>
        <p:spPr>
          <a:xfrm>
            <a:off x="2522607" y="4956340"/>
            <a:ext cx="774545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Statsmodels</a:t>
            </a:r>
            <a:endParaRPr lang="en-US" sz="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1E2853FB-4B95-B1AB-D557-E717A60E02CF}"/>
              </a:ext>
            </a:extLst>
          </p:cNvPr>
          <p:cNvSpPr/>
          <p:nvPr/>
        </p:nvSpPr>
        <p:spPr>
          <a:xfrm>
            <a:off x="199080" y="1296820"/>
            <a:ext cx="3098072" cy="365760"/>
          </a:xfrm>
          <a:prstGeom prst="round2SameRect">
            <a:avLst/>
          </a:prstGeom>
          <a:solidFill>
            <a:srgbClr val="0082FB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Propensity Score Matching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63104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05241E5-7EB6-E153-49B1-F1166B88A806}"/>
              </a:ext>
            </a:extLst>
          </p:cNvPr>
          <p:cNvSpPr/>
          <p:nvPr/>
        </p:nvSpPr>
        <p:spPr>
          <a:xfrm>
            <a:off x="6378675" y="1793667"/>
            <a:ext cx="2286000" cy="2306750"/>
          </a:xfrm>
          <a:prstGeom prst="rect">
            <a:avLst/>
          </a:prstGeom>
          <a:solidFill>
            <a:srgbClr val="EFEFEF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</a:p>
          <a:p>
            <a:pPr algn="ctr"/>
            <a:endParaRPr lang="en-US" sz="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“Romantics” seek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connection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not commitment.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Recommendation:</a:t>
            </a:r>
          </a:p>
          <a:p>
            <a:pPr algn="ctr"/>
            <a:endParaRPr lang="en-US" sz="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Stop retargeting “Romantic” users with ads about family. Shift focus to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“deep connection” messaging 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align with actual intent.</a:t>
            </a:r>
            <a:endParaRPr lang="en-US" sz="12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690647-0FC9-B623-DE38-9E4137F2F1B6}"/>
              </a:ext>
            </a:extLst>
          </p:cNvPr>
          <p:cNvSpPr/>
          <p:nvPr/>
        </p:nvSpPr>
        <p:spPr>
          <a:xfrm>
            <a:off x="3429000" y="1796123"/>
            <a:ext cx="2286000" cy="2306750"/>
          </a:xfrm>
          <a:prstGeom prst="rect">
            <a:avLst/>
          </a:prstGeom>
          <a:solidFill>
            <a:srgbClr val="EFEFEF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</a:p>
          <a:p>
            <a:pPr algn="ctr"/>
            <a:endParaRPr lang="en-US" sz="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Demographics achieve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79% accuracy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but miss nuance.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Recommendation:</a:t>
            </a:r>
          </a:p>
          <a:p>
            <a:pPr algn="ctr"/>
            <a:endParaRPr lang="en-US" sz="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Replace static demographic filters with a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visual lifestyle quiz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Let users self-select into specific psychographic tracks (e.g., Socialite, Romantic).</a:t>
            </a:r>
            <a:endParaRPr lang="en-US" sz="12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88F00EF-5EC0-5483-6247-4C0EB9DE2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879"/>
            <a:ext cx="9144000" cy="914400"/>
          </a:xfrm>
        </p:spPr>
        <p:txBody>
          <a:bodyPr anchor="ctr"/>
          <a:lstStyle/>
          <a:p>
            <a:r>
              <a:rPr lang="en-US" sz="2400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Insight to Impact: Strategic Recommendations</a:t>
            </a:r>
            <a:br>
              <a:rPr lang="en-US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400" b="0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Optimizing Product Features Based on Psychographic Drivers</a:t>
            </a:r>
            <a:endParaRPr lang="en-US" b="0" dirty="0">
              <a:solidFill>
                <a:srgbClr val="0082F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247F1-B6C6-AEE4-DE51-4068F46373BB}"/>
              </a:ext>
            </a:extLst>
          </p:cNvPr>
          <p:cNvSpPr/>
          <p:nvPr/>
        </p:nvSpPr>
        <p:spPr>
          <a:xfrm>
            <a:off x="479325" y="1796259"/>
            <a:ext cx="2286000" cy="2306750"/>
          </a:xfrm>
          <a:prstGeom prst="rect">
            <a:avLst/>
          </a:prstGeom>
          <a:solidFill>
            <a:srgbClr val="EFEFEF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</a:p>
          <a:p>
            <a:pPr algn="ctr"/>
            <a:endParaRPr lang="en-US" sz="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Niche interests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actively suppress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family intent signals.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Recommendation:</a:t>
            </a:r>
          </a:p>
          <a:p>
            <a:pPr algn="ctr"/>
            <a:endParaRPr lang="en-US" sz="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Downweight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interest-based 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matching. Prioritize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latent psychographics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as a primary feature.</a:t>
            </a:r>
            <a:endParaRPr lang="en-US" sz="12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51AE7CD6-DE31-8F71-3404-39D84DCB4C08}"/>
              </a:ext>
            </a:extLst>
          </p:cNvPr>
          <p:cNvSpPr/>
          <p:nvPr/>
        </p:nvSpPr>
        <p:spPr>
          <a:xfrm>
            <a:off x="479325" y="1247483"/>
            <a:ext cx="2286000" cy="548640"/>
          </a:xfrm>
          <a:prstGeom prst="round2SameRect">
            <a:avLst/>
          </a:prstGeom>
          <a:solidFill>
            <a:srgbClr val="0082FB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The Algorithm</a:t>
            </a:r>
          </a:p>
          <a:p>
            <a:pPr algn="ctr">
              <a:spcBef>
                <a:spcPts val="300"/>
              </a:spcBef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Decouple Interest from Intent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3F926B6E-7E28-E755-C8CE-B61ADE0AACAA}"/>
              </a:ext>
            </a:extLst>
          </p:cNvPr>
          <p:cNvSpPr/>
          <p:nvPr/>
        </p:nvSpPr>
        <p:spPr>
          <a:xfrm>
            <a:off x="3429000" y="1247483"/>
            <a:ext cx="2286000" cy="548640"/>
          </a:xfrm>
          <a:prstGeom prst="round2SameRect">
            <a:avLst/>
          </a:prstGeom>
          <a:solidFill>
            <a:srgbClr val="0082FB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The Onboarding</a:t>
            </a:r>
          </a:p>
          <a:p>
            <a:pPr algn="ctr">
              <a:spcBef>
                <a:spcPts val="300"/>
              </a:spcBef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“Lifestyle” Signal Onboarding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B8D09D30-B056-EE83-B6F9-500B622878AD}"/>
              </a:ext>
            </a:extLst>
          </p:cNvPr>
          <p:cNvSpPr/>
          <p:nvPr/>
        </p:nvSpPr>
        <p:spPr>
          <a:xfrm>
            <a:off x="6378675" y="1247483"/>
            <a:ext cx="2286000" cy="548640"/>
          </a:xfrm>
          <a:prstGeom prst="round2SameRect">
            <a:avLst/>
          </a:prstGeom>
          <a:solidFill>
            <a:srgbClr val="0082FB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The Growth</a:t>
            </a:r>
          </a:p>
          <a:p>
            <a:pPr algn="ctr">
              <a:spcBef>
                <a:spcPts val="300"/>
              </a:spcBef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Segmented Value Proposition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47FB1F1-FDF1-48E3-DC86-5B5CD125AFFF}"/>
              </a:ext>
            </a:extLst>
          </p:cNvPr>
          <p:cNvSpPr/>
          <p:nvPr/>
        </p:nvSpPr>
        <p:spPr>
          <a:xfrm>
            <a:off x="92053" y="4956342"/>
            <a:ext cx="1188720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Product Strategy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534FFFC-C1B4-735D-13CD-54343F940055}"/>
              </a:ext>
            </a:extLst>
          </p:cNvPr>
          <p:cNvSpPr/>
          <p:nvPr/>
        </p:nvSpPr>
        <p:spPr>
          <a:xfrm>
            <a:off x="1368056" y="4954135"/>
            <a:ext cx="1188720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A/B Testing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41D6A09-7F28-C761-2B59-747D34A27C0E}"/>
              </a:ext>
            </a:extLst>
          </p:cNvPr>
          <p:cNvSpPr/>
          <p:nvPr/>
        </p:nvSpPr>
        <p:spPr>
          <a:xfrm>
            <a:off x="2644059" y="4954135"/>
            <a:ext cx="1188720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Algorithmic Auditing</a:t>
            </a:r>
          </a:p>
        </p:txBody>
      </p:sp>
      <p:pic>
        <p:nvPicPr>
          <p:cNvPr id="29" name="Graphic 28" descr="Single gear with solid fill">
            <a:extLst>
              <a:ext uri="{FF2B5EF4-FFF2-40B4-BE49-F238E27FC236}">
                <a16:creationId xmlns:a16="http://schemas.microsoft.com/office/drawing/2014/main" id="{9E2C4748-1BF0-DE2B-FADF-FB4A179EA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047" y="1279552"/>
            <a:ext cx="274320" cy="274320"/>
          </a:xfrm>
          <a:prstGeom prst="rect">
            <a:avLst/>
          </a:prstGeom>
        </p:spPr>
      </p:pic>
      <p:pic>
        <p:nvPicPr>
          <p:cNvPr id="31" name="Graphic 30" descr="Clipboard Checked with solid fill">
            <a:extLst>
              <a:ext uri="{FF2B5EF4-FFF2-40B4-BE49-F238E27FC236}">
                <a16:creationId xmlns:a16="http://schemas.microsoft.com/office/drawing/2014/main" id="{D08EE44D-7F64-675B-5020-362B067BE6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6217" y="1279552"/>
            <a:ext cx="274320" cy="274320"/>
          </a:xfrm>
          <a:prstGeom prst="rect">
            <a:avLst/>
          </a:prstGeom>
        </p:spPr>
      </p:pic>
      <p:pic>
        <p:nvPicPr>
          <p:cNvPr id="33" name="Graphic 32" descr="Bullseye with solid fill">
            <a:extLst>
              <a:ext uri="{FF2B5EF4-FFF2-40B4-BE49-F238E27FC236}">
                <a16:creationId xmlns:a16="http://schemas.microsoft.com/office/drawing/2014/main" id="{603FFA24-6792-AF30-18F7-6BE5E84493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0071" y="1279552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1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AA9E7-AE21-17F0-4FA2-FF916463D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BFAE510-9E8F-90CB-D066-5A51352231AF}"/>
              </a:ext>
            </a:extLst>
          </p:cNvPr>
          <p:cNvSpPr/>
          <p:nvPr/>
        </p:nvSpPr>
        <p:spPr>
          <a:xfrm>
            <a:off x="6378675" y="1793667"/>
            <a:ext cx="2286000" cy="2743200"/>
          </a:xfrm>
          <a:prstGeom prst="rect">
            <a:avLst/>
          </a:prstGeom>
          <a:solidFill>
            <a:srgbClr val="EFEFEF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 1:</a:t>
            </a:r>
            <a:endParaRPr lang="en-US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US" sz="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Backtest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on historical data </a:t>
            </a:r>
            <a:r>
              <a:rPr lang="en-US" sz="1200" dirty="0">
                <a:solidFill>
                  <a:schemeClr val="tx1"/>
                </a:solidFill>
              </a:rPr>
              <a:t>✓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 2:</a:t>
            </a:r>
            <a:endParaRPr lang="en-US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US" sz="3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Live A/B Test (5% traffic)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 3:</a:t>
            </a:r>
          </a:p>
          <a:p>
            <a:pPr algn="ctr"/>
            <a:endParaRPr lang="en-US" sz="3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Ship if day-30 retention shows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≥ 2% lift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A7ABF5-BC8B-AE2A-A4E2-210D4ED67D62}"/>
              </a:ext>
            </a:extLst>
          </p:cNvPr>
          <p:cNvSpPr/>
          <p:nvPr/>
        </p:nvSpPr>
        <p:spPr>
          <a:xfrm>
            <a:off x="3429000" y="1796123"/>
            <a:ext cx="2286000" cy="2743200"/>
          </a:xfrm>
          <a:prstGeom prst="rect">
            <a:avLst/>
          </a:prstGeom>
          <a:solidFill>
            <a:srgbClr val="EFEFEF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Primary:</a:t>
            </a:r>
          </a:p>
          <a:p>
            <a:pPr algn="ctr"/>
            <a:endParaRPr lang="en-US" sz="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Day-30 Retention.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(Do better matches keep users?)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Secondary:</a:t>
            </a:r>
          </a:p>
          <a:p>
            <a:pPr algn="ctr"/>
            <a:endParaRPr lang="en-US" sz="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Conversation Initiation Rate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(Do matched users engage?)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Guardrail:</a:t>
            </a:r>
            <a:endParaRPr lang="en-US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US" sz="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Onboarding Completion Rate</a:t>
            </a:r>
          </a:p>
          <a:p>
            <a:pPr algn="ctr"/>
            <a:endParaRPr lang="en-US" sz="3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Match Volume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F9B09C1-B0A8-7CD4-3CF5-06EEC5B7B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879"/>
            <a:ext cx="9144000" cy="914400"/>
          </a:xfrm>
        </p:spPr>
        <p:txBody>
          <a:bodyPr anchor="ctr"/>
          <a:lstStyle/>
          <a:p>
            <a:r>
              <a:rPr lang="en-US" sz="2400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Execution Strategy: Validation &amp; Rollout</a:t>
            </a:r>
            <a:br>
              <a:rPr lang="en-US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400" b="0" dirty="0">
                <a:solidFill>
                  <a:srgbClr val="0082F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Translating Insights into Measurable Product Impact</a:t>
            </a:r>
            <a:endParaRPr lang="en-US" b="0" dirty="0">
              <a:solidFill>
                <a:srgbClr val="0082F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3CCCD3-3EEB-9E64-E969-0717064D34E0}"/>
              </a:ext>
            </a:extLst>
          </p:cNvPr>
          <p:cNvSpPr/>
          <p:nvPr/>
        </p:nvSpPr>
        <p:spPr>
          <a:xfrm>
            <a:off x="479325" y="1793667"/>
            <a:ext cx="2286000" cy="2743200"/>
          </a:xfrm>
          <a:prstGeom prst="rect">
            <a:avLst/>
          </a:prstGeom>
          <a:solidFill>
            <a:srgbClr val="EFEFEF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Hypothesis:</a:t>
            </a:r>
          </a:p>
          <a:p>
            <a:pPr algn="ctr"/>
            <a:endParaRPr lang="en-US" sz="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Users who complete a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lifestyle quiz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during onboarding will show higher day-30 retention than standard onboarding users.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Test Setup:</a:t>
            </a:r>
            <a:endParaRPr lang="en-US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US" sz="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Treatment: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Lifestyle Quiz</a:t>
            </a:r>
          </a:p>
          <a:p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Control: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Demographic filters</a:t>
            </a:r>
          </a:p>
          <a:p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Traffic: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5% of new user traffic</a:t>
            </a: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167C7712-2FC8-72D9-76BA-7EB85DE6CBBD}"/>
              </a:ext>
            </a:extLst>
          </p:cNvPr>
          <p:cNvSpPr/>
          <p:nvPr/>
        </p:nvSpPr>
        <p:spPr>
          <a:xfrm>
            <a:off x="479325" y="1247483"/>
            <a:ext cx="2286000" cy="548640"/>
          </a:xfrm>
          <a:prstGeom prst="round2SameRect">
            <a:avLst/>
          </a:prstGeom>
          <a:solidFill>
            <a:srgbClr val="0082FB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A/B Test Design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B6F130E0-2A21-056C-64CC-613531E4C053}"/>
              </a:ext>
            </a:extLst>
          </p:cNvPr>
          <p:cNvSpPr/>
          <p:nvPr/>
        </p:nvSpPr>
        <p:spPr>
          <a:xfrm>
            <a:off x="3429000" y="1247483"/>
            <a:ext cx="2286000" cy="548640"/>
          </a:xfrm>
          <a:prstGeom prst="round2SameRect">
            <a:avLst/>
          </a:prstGeom>
          <a:solidFill>
            <a:srgbClr val="0082FB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Success Metrics</a:t>
            </a: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5752AA91-FE31-A36D-7F6A-B7A66CA0F971}"/>
              </a:ext>
            </a:extLst>
          </p:cNvPr>
          <p:cNvSpPr/>
          <p:nvPr/>
        </p:nvSpPr>
        <p:spPr>
          <a:xfrm>
            <a:off x="6378675" y="1247483"/>
            <a:ext cx="2286000" cy="548640"/>
          </a:xfrm>
          <a:prstGeom prst="round2SameRect">
            <a:avLst/>
          </a:prstGeom>
          <a:solidFill>
            <a:srgbClr val="0082FB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Phased Rollout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8074710-2F77-9D15-DE87-7DC94E954D22}"/>
              </a:ext>
            </a:extLst>
          </p:cNvPr>
          <p:cNvSpPr/>
          <p:nvPr/>
        </p:nvSpPr>
        <p:spPr>
          <a:xfrm>
            <a:off x="92053" y="4956342"/>
            <a:ext cx="1188720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Product Strategy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60E9ABA-6843-F13B-E6EF-6776C420CEE5}"/>
              </a:ext>
            </a:extLst>
          </p:cNvPr>
          <p:cNvSpPr/>
          <p:nvPr/>
        </p:nvSpPr>
        <p:spPr>
          <a:xfrm>
            <a:off x="1368056" y="4954135"/>
            <a:ext cx="1188720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A/B Testing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32A282C-C428-F791-09EA-3498AE50B67E}"/>
              </a:ext>
            </a:extLst>
          </p:cNvPr>
          <p:cNvSpPr/>
          <p:nvPr/>
        </p:nvSpPr>
        <p:spPr>
          <a:xfrm>
            <a:off x="2644059" y="4954135"/>
            <a:ext cx="1188720" cy="15008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Experimentation</a:t>
            </a:r>
          </a:p>
        </p:txBody>
      </p:sp>
      <p:pic>
        <p:nvPicPr>
          <p:cNvPr id="3" name="Graphic 2" descr="Beaker with solid fill">
            <a:extLst>
              <a:ext uri="{FF2B5EF4-FFF2-40B4-BE49-F238E27FC236}">
                <a16:creationId xmlns:a16="http://schemas.microsoft.com/office/drawing/2014/main" id="{EA200D3F-F6EA-334F-4EA4-36C22798B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533" y="1311378"/>
            <a:ext cx="365760" cy="365760"/>
          </a:xfrm>
          <a:prstGeom prst="rect">
            <a:avLst/>
          </a:prstGeom>
        </p:spPr>
      </p:pic>
      <p:pic>
        <p:nvPicPr>
          <p:cNvPr id="5" name="Graphic 4" descr="Ruler with solid fill">
            <a:extLst>
              <a:ext uri="{FF2B5EF4-FFF2-40B4-BE49-F238E27FC236}">
                <a16:creationId xmlns:a16="http://schemas.microsoft.com/office/drawing/2014/main" id="{E267F8E1-B1BA-9F26-BA1A-61204FAD76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67019" y="1315712"/>
            <a:ext cx="365760" cy="365760"/>
          </a:xfrm>
          <a:prstGeom prst="rect">
            <a:avLst/>
          </a:prstGeom>
        </p:spPr>
      </p:pic>
      <p:pic>
        <p:nvPicPr>
          <p:cNvPr id="7" name="Graphic 6" descr="Monthly calendar with solid fill">
            <a:extLst>
              <a:ext uri="{FF2B5EF4-FFF2-40B4-BE49-F238E27FC236}">
                <a16:creationId xmlns:a16="http://schemas.microsoft.com/office/drawing/2014/main" id="{77DC9B06-25BF-36E1-25F8-D627361E55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5560" y="1312237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474060"/>
      </p:ext>
    </p:extLst>
  </p:cSld>
  <p:clrMapOvr>
    <a:masterClrMapping/>
  </p:clrMapOvr>
</p:sld>
</file>

<file path=ppt/theme/theme1.xml><?xml version="1.0" encoding="utf-8"?>
<a:theme xmlns:a="http://schemas.openxmlformats.org/drawingml/2006/main" name="Management Consulting Toolkit by Slidesgo">
  <a:themeElements>
    <a:clrScheme name="Custom 1">
      <a:dk1>
        <a:srgbClr val="000000"/>
      </a:dk1>
      <a:lt1>
        <a:srgbClr val="FFFFFF"/>
      </a:lt1>
      <a:dk2>
        <a:srgbClr val="93E9FF"/>
      </a:dk2>
      <a:lt2>
        <a:srgbClr val="EFEFEF"/>
      </a:lt2>
      <a:accent1>
        <a:srgbClr val="00B0CC"/>
      </a:accent1>
      <a:accent2>
        <a:srgbClr val="000000"/>
      </a:accent2>
      <a:accent3>
        <a:srgbClr val="93E9FF"/>
      </a:accent3>
      <a:accent4>
        <a:srgbClr val="EFEFEF"/>
      </a:accent4>
      <a:accent5>
        <a:srgbClr val="00B0CC"/>
      </a:accent5>
      <a:accent6>
        <a:srgbClr val="000000"/>
      </a:accent6>
      <a:hlink>
        <a:srgbClr val="00B0CC"/>
      </a:hlink>
      <a:folHlink>
        <a:srgbClr val="00B0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1636</TotalTime>
  <Words>921</Words>
  <Application>Microsoft Office PowerPoint</Application>
  <PresentationFormat>On-screen Show (16:9)</PresentationFormat>
  <Paragraphs>201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Segoe UI</vt:lpstr>
      <vt:lpstr>Arial</vt:lpstr>
      <vt:lpstr>Montserrat</vt:lpstr>
      <vt:lpstr>Management Consulting Toolkit by Slidesgo</vt:lpstr>
      <vt:lpstr>PowerPoint Presentation</vt:lpstr>
      <vt:lpstr>Executive Summary Optimizing Match Relevance by Decoupling Interest from Intent</vt:lpstr>
      <vt:lpstr>From Data to Insight: The Research Pipeline Triangulating User Intent via Machine Learning, Natural Language Processing, and Causal Inference</vt:lpstr>
      <vt:lpstr>Demographics Miss Lifestyle Choice Nuance Baseline Gradient Boosting Model: SHAP Feature Importance Analysis</vt:lpstr>
      <vt:lpstr>Unlocking Psychographics: Language is a Behavior Latent Dirichlet Allocation (LDA) Topic Modeling of User Essays</vt:lpstr>
      <vt:lpstr>Lifestyle Choices Drive Family Planning Validating Causal Drivers via Propensity Score Matching (PSM)</vt:lpstr>
      <vt:lpstr>From Insight to Impact: Strategic Recommendations Optimizing Product Features Based on Psychographic Drivers</vt:lpstr>
      <vt:lpstr>Execution Strategy: Validation &amp; Rollout Translating Insights into Measurable Product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Charles Francemone</dc:creator>
  <cp:lastModifiedBy>Joe Francemone</cp:lastModifiedBy>
  <cp:revision>103</cp:revision>
  <cp:lastPrinted>2026-01-07T23:46:37Z</cp:lastPrinted>
  <dcterms:modified xsi:type="dcterms:W3CDTF">2026-02-09T13:50:54Z</dcterms:modified>
</cp:coreProperties>
</file>